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640080"/>
            <a:ext cx="36576" cy="557784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649456" y="640080"/>
            <a:ext cx="36576" cy="557784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0"/>
            <a:ext cx="12191695" cy="457200"/>
          </a:xfrm>
          <a:prstGeom prst="rect">
            <a:avLst/>
          </a:prstGeom>
          <a:noFill/>
        </p:spPr>
        <p:txBody>
          <a:bodyPr wrap="square" lIns="0" rIns="0" tIns="0" bIns="0" anchor="t">
            <a:spAutoFit/>
          </a:bodyPr>
          <a:lstStyle/>
          <a:p>
            <a:pPr algn="ctr"/>
            <a:r>
              <a:rPr sz="1400" b="1" i="0">
                <a:solidFill>
                  <a:srgbClr val="F2CA50"/>
                </a:solidFill>
                <a:latin typeface="Calibri"/>
              </a:rPr>
              <a:t>NBA 6925  ·  Cornell SC Johnson</a:t>
            </a:r>
          </a:p>
        </p:txBody>
      </p:sp>
      <p:sp>
        <p:nvSpPr>
          <p:cNvPr id="6" name="TextBox 5"/>
          <p:cNvSpPr txBox="1"/>
          <p:nvPr/>
        </p:nvSpPr>
        <p:spPr>
          <a:xfrm>
            <a:off x="0" y="1828800"/>
            <a:ext cx="12191695" cy="2011680"/>
          </a:xfrm>
          <a:prstGeom prst="rect">
            <a:avLst/>
          </a:prstGeom>
          <a:noFill/>
        </p:spPr>
        <p:txBody>
          <a:bodyPr wrap="square" lIns="0" rIns="0" tIns="0" bIns="0" anchor="t">
            <a:spAutoFit/>
          </a:bodyPr>
          <a:lstStyle/>
          <a:p>
            <a:pPr algn="ctr"/>
            <a:r>
              <a:rPr sz="14000" b="1" i="0">
                <a:solidFill>
                  <a:srgbClr val="F2CA50"/>
                </a:solidFill>
                <a:latin typeface="Georgia"/>
              </a:rPr>
              <a:t>NOCTURNE</a:t>
            </a:r>
          </a:p>
        </p:txBody>
      </p:sp>
      <p:sp>
        <p:nvSpPr>
          <p:cNvPr id="7" name="TextBox 6"/>
          <p:cNvSpPr txBox="1"/>
          <p:nvPr/>
        </p:nvSpPr>
        <p:spPr>
          <a:xfrm>
            <a:off x="0" y="3931920"/>
            <a:ext cx="12191695" cy="640080"/>
          </a:xfrm>
          <a:prstGeom prst="rect">
            <a:avLst/>
          </a:prstGeom>
          <a:noFill/>
        </p:spPr>
        <p:txBody>
          <a:bodyPr wrap="square" lIns="0" rIns="0" tIns="0" bIns="0" anchor="t">
            <a:spAutoFit/>
          </a:bodyPr>
          <a:lstStyle/>
          <a:p>
            <a:pPr algn="ctr"/>
            <a:r>
              <a:rPr sz="2600" b="0" i="1">
                <a:solidFill>
                  <a:srgbClr val="E5E2E1"/>
                </a:solidFill>
                <a:latin typeface="Georgia"/>
              </a:rPr>
              <a:t>AI matchmaking for DJs and venues</a:t>
            </a:r>
          </a:p>
        </p:txBody>
      </p:sp>
      <p:sp>
        <p:nvSpPr>
          <p:cNvPr id="8" name="TextBox 7"/>
          <p:cNvSpPr txBox="1"/>
          <p:nvPr/>
        </p:nvSpPr>
        <p:spPr>
          <a:xfrm>
            <a:off x="0" y="5669280"/>
            <a:ext cx="12191695" cy="365760"/>
          </a:xfrm>
          <a:prstGeom prst="rect">
            <a:avLst/>
          </a:prstGeom>
          <a:noFill/>
        </p:spPr>
        <p:txBody>
          <a:bodyPr wrap="square" lIns="0" rIns="0" tIns="0" bIns="0" anchor="t">
            <a:spAutoFit/>
          </a:bodyPr>
          <a:lstStyle/>
          <a:p>
            <a:pPr algn="ctr"/>
            <a:r>
              <a:rPr sz="1800" b="1" i="0">
                <a:solidFill>
                  <a:srgbClr val="D0C5AF"/>
                </a:solidFill>
                <a:latin typeface="Calibri"/>
              </a:rPr>
              <a:t>Pablo Penalba</a:t>
            </a:r>
          </a:p>
        </p:txBody>
      </p:sp>
      <p:sp>
        <p:nvSpPr>
          <p:cNvPr id="9" name="TextBox 8"/>
          <p:cNvSpPr txBox="1"/>
          <p:nvPr/>
        </p:nvSpPr>
        <p:spPr>
          <a:xfrm>
            <a:off x="0" y="6035040"/>
            <a:ext cx="12191695" cy="365760"/>
          </a:xfrm>
          <a:prstGeom prst="rect">
            <a:avLst/>
          </a:prstGeom>
          <a:noFill/>
        </p:spPr>
        <p:txBody>
          <a:bodyPr wrap="square" lIns="0" rIns="0" tIns="0" bIns="0" anchor="t">
            <a:spAutoFit/>
          </a:bodyPr>
          <a:lstStyle/>
          <a:p>
            <a:pPr algn="ctr"/>
            <a:r>
              <a:rPr sz="1400" b="0" i="0">
                <a:solidFill>
                  <a:srgbClr val="8A8377"/>
                </a:solidFill>
                <a:latin typeface="Calibri"/>
              </a:rPr>
              <a:t>April 30,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lIns="0" rIns="0" tIns="0" bIns="0" anchor="t">
            <a:spAutoFit/>
          </a:bodyPr>
          <a:lstStyle/>
          <a:p>
            <a:pPr algn="l"/>
            <a:r>
              <a:rPr sz="1100" b="1" i="0">
                <a:solidFill>
                  <a:srgbClr val="F2CA50"/>
                </a:solidFill>
                <a:latin typeface="Calibri"/>
              </a:rPr>
              <a:t>THE PROBLEM</a:t>
            </a:r>
          </a:p>
        </p:txBody>
      </p:sp>
      <p:sp>
        <p:nvSpPr>
          <p:cNvPr id="4" name="TextBox 3"/>
          <p:cNvSpPr txBox="1"/>
          <p:nvPr/>
        </p:nvSpPr>
        <p:spPr>
          <a:xfrm>
            <a:off x="640080" y="868680"/>
            <a:ext cx="10972800" cy="914400"/>
          </a:xfrm>
          <a:prstGeom prst="rect">
            <a:avLst/>
          </a:prstGeom>
          <a:noFill/>
        </p:spPr>
        <p:txBody>
          <a:bodyPr wrap="square" lIns="0" rIns="0" tIns="0" bIns="0" anchor="t">
            <a:spAutoFit/>
          </a:bodyPr>
          <a:lstStyle/>
          <a:p>
            <a:pPr algn="l"/>
            <a:r>
              <a:rPr sz="4600" b="1" i="0">
                <a:solidFill>
                  <a:srgbClr val="E5E2E1"/>
                </a:solidFill>
                <a:latin typeface="Georgia"/>
              </a:rPr>
              <a:t>Booking a DJ is blind.</a:t>
            </a:r>
          </a:p>
        </p:txBody>
      </p:sp>
      <p:sp>
        <p:nvSpPr>
          <p:cNvPr id="5" name="Rectangle 4"/>
          <p:cNvSpPr/>
          <p:nvPr/>
        </p:nvSpPr>
        <p:spPr>
          <a:xfrm>
            <a:off x="640080" y="2103120"/>
            <a:ext cx="3393338" cy="260604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2103120"/>
            <a:ext cx="457200" cy="73152"/>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77440"/>
            <a:ext cx="1828800" cy="365760"/>
          </a:xfrm>
          <a:prstGeom prst="rect">
            <a:avLst/>
          </a:prstGeom>
          <a:noFill/>
        </p:spPr>
        <p:txBody>
          <a:bodyPr wrap="square" lIns="0" rIns="0" tIns="0" bIns="0" anchor="t">
            <a:spAutoFit/>
          </a:bodyPr>
          <a:lstStyle/>
          <a:p>
            <a:pPr algn="l"/>
            <a:r>
              <a:rPr sz="2800" b="1" i="0">
                <a:solidFill>
                  <a:srgbClr val="F2CA50"/>
                </a:solidFill>
                <a:latin typeface="Georgia"/>
              </a:rPr>
              <a:t>01</a:t>
            </a:r>
          </a:p>
        </p:txBody>
      </p:sp>
      <p:sp>
        <p:nvSpPr>
          <p:cNvPr id="8" name="TextBox 7"/>
          <p:cNvSpPr txBox="1"/>
          <p:nvPr/>
        </p:nvSpPr>
        <p:spPr>
          <a:xfrm>
            <a:off x="1005840" y="2834640"/>
            <a:ext cx="2661818" cy="640080"/>
          </a:xfrm>
          <a:prstGeom prst="rect">
            <a:avLst/>
          </a:prstGeom>
          <a:noFill/>
        </p:spPr>
        <p:txBody>
          <a:bodyPr wrap="square" lIns="0" rIns="0" tIns="0" bIns="0" anchor="t">
            <a:spAutoFit/>
          </a:bodyPr>
          <a:lstStyle/>
          <a:p>
            <a:pPr algn="l"/>
            <a:r>
              <a:rPr sz="1800" b="1" i="0">
                <a:solidFill>
                  <a:srgbClr val="E5E2E1"/>
                </a:solidFill>
                <a:latin typeface="Georgia"/>
              </a:rPr>
              <a:t>Venues book without preview</a:t>
            </a:r>
          </a:p>
        </p:txBody>
      </p:sp>
      <p:sp>
        <p:nvSpPr>
          <p:cNvPr id="9" name="TextBox 8"/>
          <p:cNvSpPr txBox="1"/>
          <p:nvPr/>
        </p:nvSpPr>
        <p:spPr>
          <a:xfrm>
            <a:off x="1005840" y="3520440"/>
            <a:ext cx="2661818" cy="109728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Promoters pick from EPKs, demo mixes, and Instagram, then hope the vibe lands. By the night of the show, course-correction is impossible.</a:t>
            </a:r>
          </a:p>
        </p:txBody>
      </p:sp>
      <p:sp>
        <p:nvSpPr>
          <p:cNvPr id="10" name="Rectangle 9"/>
          <p:cNvSpPr/>
          <p:nvPr/>
        </p:nvSpPr>
        <p:spPr>
          <a:xfrm>
            <a:off x="4399178" y="2103120"/>
            <a:ext cx="3393338" cy="260604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9178" y="2103120"/>
            <a:ext cx="457200" cy="73152"/>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64938" y="2377440"/>
            <a:ext cx="1828800" cy="365760"/>
          </a:xfrm>
          <a:prstGeom prst="rect">
            <a:avLst/>
          </a:prstGeom>
          <a:noFill/>
        </p:spPr>
        <p:txBody>
          <a:bodyPr wrap="square" lIns="0" rIns="0" tIns="0" bIns="0" anchor="t">
            <a:spAutoFit/>
          </a:bodyPr>
          <a:lstStyle/>
          <a:p>
            <a:pPr algn="l"/>
            <a:r>
              <a:rPr sz="2800" b="1" i="0">
                <a:solidFill>
                  <a:srgbClr val="F2CA50"/>
                </a:solidFill>
                <a:latin typeface="Georgia"/>
              </a:rPr>
              <a:t>02</a:t>
            </a:r>
          </a:p>
        </p:txBody>
      </p:sp>
      <p:sp>
        <p:nvSpPr>
          <p:cNvPr id="13" name="TextBox 12"/>
          <p:cNvSpPr txBox="1"/>
          <p:nvPr/>
        </p:nvSpPr>
        <p:spPr>
          <a:xfrm>
            <a:off x="4764938" y="2834640"/>
            <a:ext cx="2661818" cy="640080"/>
          </a:xfrm>
          <a:prstGeom prst="rect">
            <a:avLst/>
          </a:prstGeom>
          <a:noFill/>
        </p:spPr>
        <p:txBody>
          <a:bodyPr wrap="square" lIns="0" rIns="0" tIns="0" bIns="0" anchor="t">
            <a:spAutoFit/>
          </a:bodyPr>
          <a:lstStyle/>
          <a:p>
            <a:pPr algn="l"/>
            <a:r>
              <a:rPr sz="1800" b="1" i="0">
                <a:solidFill>
                  <a:srgbClr val="E5E2E1"/>
                </a:solidFill>
                <a:latin typeface="Georgia"/>
              </a:rPr>
              <a:t>DJs pitch into voids</a:t>
            </a:r>
          </a:p>
        </p:txBody>
      </p:sp>
      <p:sp>
        <p:nvSpPr>
          <p:cNvPr id="14" name="TextBox 13"/>
          <p:cNvSpPr txBox="1"/>
          <p:nvPr/>
        </p:nvSpPr>
        <p:spPr>
          <a:xfrm>
            <a:off x="4764938" y="3520440"/>
            <a:ext cx="2661818" cy="109728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Hours spent emailing venues that never reply, or worse, venues whose crowd doesn’t fit the set. Booking signal is sparse and one-directional.</a:t>
            </a:r>
          </a:p>
        </p:txBody>
      </p:sp>
      <p:sp>
        <p:nvSpPr>
          <p:cNvPr id="15" name="Rectangle 14"/>
          <p:cNvSpPr/>
          <p:nvPr/>
        </p:nvSpPr>
        <p:spPr>
          <a:xfrm>
            <a:off x="8158276" y="2103120"/>
            <a:ext cx="3393338" cy="260604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58276" y="2103120"/>
            <a:ext cx="457200" cy="73152"/>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24036" y="2377440"/>
            <a:ext cx="1828800" cy="365760"/>
          </a:xfrm>
          <a:prstGeom prst="rect">
            <a:avLst/>
          </a:prstGeom>
          <a:noFill/>
        </p:spPr>
        <p:txBody>
          <a:bodyPr wrap="square" lIns="0" rIns="0" tIns="0" bIns="0" anchor="t">
            <a:spAutoFit/>
          </a:bodyPr>
          <a:lstStyle/>
          <a:p>
            <a:pPr algn="l"/>
            <a:r>
              <a:rPr sz="2800" b="1" i="0">
                <a:solidFill>
                  <a:srgbClr val="F2CA50"/>
                </a:solidFill>
                <a:latin typeface="Georgia"/>
              </a:rPr>
              <a:t>03</a:t>
            </a:r>
          </a:p>
        </p:txBody>
      </p:sp>
      <p:sp>
        <p:nvSpPr>
          <p:cNvPr id="18" name="TextBox 17"/>
          <p:cNvSpPr txBox="1"/>
          <p:nvPr/>
        </p:nvSpPr>
        <p:spPr>
          <a:xfrm>
            <a:off x="8524036" y="2834640"/>
            <a:ext cx="2661818" cy="640080"/>
          </a:xfrm>
          <a:prstGeom prst="rect">
            <a:avLst/>
          </a:prstGeom>
          <a:noFill/>
        </p:spPr>
        <p:txBody>
          <a:bodyPr wrap="square" lIns="0" rIns="0" tIns="0" bIns="0" anchor="t">
            <a:spAutoFit/>
          </a:bodyPr>
          <a:lstStyle/>
          <a:p>
            <a:pPr algn="l"/>
            <a:r>
              <a:rPr sz="1800" b="1" i="0">
                <a:solidFill>
                  <a:srgbClr val="E5E2E1"/>
                </a:solidFill>
                <a:latin typeface="Georgia"/>
              </a:rPr>
              <a:t>No preview of the night</a:t>
            </a:r>
          </a:p>
        </p:txBody>
      </p:sp>
      <p:sp>
        <p:nvSpPr>
          <p:cNvPr id="19" name="TextBox 18"/>
          <p:cNvSpPr txBox="1"/>
          <p:nvPr/>
        </p:nvSpPr>
        <p:spPr>
          <a:xfrm>
            <a:off x="8524036" y="3520440"/>
            <a:ext cx="2661818" cy="109728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There’s no medium that lets venues, DJs, and crowds preview the actual sonic and visual character of the show in advance.</a:t>
            </a:r>
          </a:p>
        </p:txBody>
      </p:sp>
      <p:sp>
        <p:nvSpPr>
          <p:cNvPr id="20" name="Rectangle 19"/>
          <p:cNvSpPr/>
          <p:nvPr/>
        </p:nvSpPr>
        <p:spPr>
          <a:xfrm>
            <a:off x="640080" y="4983480"/>
            <a:ext cx="10911535" cy="1325880"/>
          </a:xfrm>
          <a:prstGeom prst="rect">
            <a:avLst/>
          </a:prstGeom>
          <a:solidFill>
            <a:srgbClr val="1C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983480"/>
            <a:ext cx="73152" cy="132588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148072"/>
            <a:ext cx="7315200" cy="365760"/>
          </a:xfrm>
          <a:prstGeom prst="rect">
            <a:avLst/>
          </a:prstGeom>
          <a:noFill/>
        </p:spPr>
        <p:txBody>
          <a:bodyPr wrap="square" lIns="0" rIns="0" tIns="0" bIns="0" anchor="t">
            <a:spAutoFit/>
          </a:bodyPr>
          <a:lstStyle/>
          <a:p>
            <a:pPr algn="l"/>
            <a:r>
              <a:rPr sz="1100" b="1" i="0">
                <a:solidFill>
                  <a:srgbClr val="F2CA50"/>
                </a:solidFill>
                <a:latin typeface="Calibri"/>
              </a:rPr>
              <a:t>WHY AI, NOT JUST CHATGPT</a:t>
            </a:r>
          </a:p>
        </p:txBody>
      </p:sp>
      <p:sp>
        <p:nvSpPr>
          <p:cNvPr id="23" name="TextBox 22"/>
          <p:cNvSpPr txBox="1"/>
          <p:nvPr/>
        </p:nvSpPr>
        <p:spPr>
          <a:xfrm>
            <a:off x="914400" y="5486400"/>
            <a:ext cx="10362895" cy="777240"/>
          </a:xfrm>
          <a:prstGeom prst="rect">
            <a:avLst/>
          </a:prstGeom>
          <a:noFill/>
        </p:spPr>
        <p:txBody>
          <a:bodyPr wrap="square" lIns="0" rIns="0" tIns="0" bIns="0" anchor="t">
            <a:spAutoFit/>
          </a:bodyPr>
          <a:lstStyle/>
          <a:p>
            <a:pPr algn="l">
              <a:lnSpc>
                <a:spcPct val="130000"/>
              </a:lnSpc>
            </a:pPr>
            <a:r>
              <a:rPr sz="1400" b="0" i="0">
                <a:solidFill>
                  <a:srgbClr val="E5E2E1"/>
                </a:solidFill>
                <a:latin typeface="Calibri"/>
              </a:rPr>
              <a:t>Vibe is fuzzy and multi-modal: genre-tag overlap, BPM windows, room atmosphere, capacity, and bio context all need joint reasoning. ChatGPT alone has no roster, no audio analysis, and no media generation. The platform owns the data and stitches the AI stack together.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lIns="0" rIns="0" tIns="0" bIns="0" anchor="t">
            <a:spAutoFit/>
          </a:bodyPr>
          <a:lstStyle/>
          <a:p>
            <a:pPr algn="l"/>
            <a:r>
              <a:rPr sz="1100" b="1" i="0">
                <a:solidFill>
                  <a:srgbClr val="F2CA50"/>
                </a:solidFill>
                <a:latin typeface="Calibri"/>
              </a:rPr>
              <a:t>LIVE DEMO</a:t>
            </a:r>
          </a:p>
        </p:txBody>
      </p:sp>
      <p:sp>
        <p:nvSpPr>
          <p:cNvPr id="4" name="TextBox 3"/>
          <p:cNvSpPr txBox="1"/>
          <p:nvPr/>
        </p:nvSpPr>
        <p:spPr>
          <a:xfrm>
            <a:off x="640080" y="868680"/>
            <a:ext cx="10972800" cy="868680"/>
          </a:xfrm>
          <a:prstGeom prst="rect">
            <a:avLst/>
          </a:prstGeom>
          <a:noFill/>
        </p:spPr>
        <p:txBody>
          <a:bodyPr wrap="square" lIns="0" rIns="0" tIns="0" bIns="0" anchor="t">
            <a:spAutoFit/>
          </a:bodyPr>
          <a:lstStyle/>
          <a:p>
            <a:pPr algn="l"/>
            <a:r>
              <a:rPr sz="4200" b="1" i="0">
                <a:solidFill>
                  <a:srgbClr val="E5E2E1"/>
                </a:solidFill>
                <a:latin typeface="Georgia"/>
              </a:rPr>
              <a:t>From upload to venue simulation.</a:t>
            </a:r>
          </a:p>
        </p:txBody>
      </p:sp>
      <p:sp>
        <p:nvSpPr>
          <p:cNvPr id="5" name="Oval 4"/>
          <p:cNvSpPr/>
          <p:nvPr/>
        </p:nvSpPr>
        <p:spPr>
          <a:xfrm>
            <a:off x="685800" y="1874520"/>
            <a:ext cx="731520" cy="731520"/>
          </a:xfrm>
          <a:prstGeom prst="ellipse">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20"/>
            <a:ext cx="822960" cy="731520"/>
          </a:xfrm>
          <a:prstGeom prst="rect">
            <a:avLst/>
          </a:prstGeom>
          <a:noFill/>
        </p:spPr>
        <p:txBody>
          <a:bodyPr wrap="square" lIns="0" rIns="0" tIns="0" bIns="0" anchor="ctr">
            <a:spAutoFit/>
          </a:bodyPr>
          <a:lstStyle/>
          <a:p>
            <a:pPr algn="ctr"/>
            <a:r>
              <a:rPr sz="2800" b="1" i="0">
                <a:solidFill>
                  <a:srgbClr val="0F0E0E"/>
                </a:solidFill>
                <a:latin typeface="Georgia"/>
              </a:rPr>
              <a:t>1</a:t>
            </a:r>
          </a:p>
        </p:txBody>
      </p:sp>
      <p:sp>
        <p:nvSpPr>
          <p:cNvPr id="7" name="TextBox 6"/>
          <p:cNvSpPr txBox="1"/>
          <p:nvPr/>
        </p:nvSpPr>
        <p:spPr>
          <a:xfrm>
            <a:off x="1645920" y="1828800"/>
            <a:ext cx="4480560" cy="411480"/>
          </a:xfrm>
          <a:prstGeom prst="rect">
            <a:avLst/>
          </a:prstGeom>
          <a:noFill/>
        </p:spPr>
        <p:txBody>
          <a:bodyPr wrap="square" lIns="0" rIns="0" tIns="0" bIns="0" anchor="t">
            <a:spAutoFit/>
          </a:bodyPr>
          <a:lstStyle/>
          <a:p>
            <a:pPr algn="l"/>
            <a:r>
              <a:rPr sz="1800" b="1" i="0">
                <a:solidFill>
                  <a:srgbClr val="E5E2E1"/>
                </a:solidFill>
                <a:latin typeface="Georgia"/>
              </a:rPr>
              <a:t>Upload track + photos + style</a:t>
            </a:r>
          </a:p>
        </p:txBody>
      </p:sp>
      <p:sp>
        <p:nvSpPr>
          <p:cNvPr id="8" name="TextBox 7"/>
          <p:cNvSpPr txBox="1"/>
          <p:nvPr/>
        </p:nvSpPr>
        <p:spPr>
          <a:xfrm>
            <a:off x="1645920" y="2267712"/>
            <a:ext cx="4480560" cy="73152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30-second audio sample (trimmed client-side), performer photos, and a one-line style description.</a:t>
            </a:r>
          </a:p>
        </p:txBody>
      </p:sp>
      <p:sp>
        <p:nvSpPr>
          <p:cNvPr id="9" name="Oval 8"/>
          <p:cNvSpPr/>
          <p:nvPr/>
        </p:nvSpPr>
        <p:spPr>
          <a:xfrm>
            <a:off x="685800" y="3200400"/>
            <a:ext cx="731520" cy="731520"/>
          </a:xfrm>
          <a:prstGeom prst="ellipse">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200400"/>
            <a:ext cx="822960" cy="731520"/>
          </a:xfrm>
          <a:prstGeom prst="rect">
            <a:avLst/>
          </a:prstGeom>
          <a:noFill/>
        </p:spPr>
        <p:txBody>
          <a:bodyPr wrap="square" lIns="0" rIns="0" tIns="0" bIns="0" anchor="ctr">
            <a:spAutoFit/>
          </a:bodyPr>
          <a:lstStyle/>
          <a:p>
            <a:pPr algn="ctr"/>
            <a:r>
              <a:rPr sz="2800" b="1" i="0">
                <a:solidFill>
                  <a:srgbClr val="0F0E0E"/>
                </a:solidFill>
                <a:latin typeface="Georgia"/>
              </a:rPr>
              <a:t>2</a:t>
            </a:r>
          </a:p>
        </p:txBody>
      </p:sp>
      <p:sp>
        <p:nvSpPr>
          <p:cNvPr id="11" name="TextBox 10"/>
          <p:cNvSpPr txBox="1"/>
          <p:nvPr/>
        </p:nvSpPr>
        <p:spPr>
          <a:xfrm>
            <a:off x="1645920" y="3154680"/>
            <a:ext cx="4480560" cy="411480"/>
          </a:xfrm>
          <a:prstGeom prst="rect">
            <a:avLst/>
          </a:prstGeom>
          <a:noFill/>
        </p:spPr>
        <p:txBody>
          <a:bodyPr wrap="square" lIns="0" rIns="0" tIns="0" bIns="0" anchor="t">
            <a:spAutoFit/>
          </a:bodyPr>
          <a:lstStyle/>
          <a:p>
            <a:pPr algn="l"/>
            <a:r>
              <a:rPr sz="1800" b="1" i="0">
                <a:solidFill>
                  <a:srgbClr val="E5E2E1"/>
                </a:solidFill>
                <a:latin typeface="Georgia"/>
              </a:rPr>
              <a:t>AI matches you to a venue</a:t>
            </a:r>
          </a:p>
        </p:txBody>
      </p:sp>
      <p:sp>
        <p:nvSpPr>
          <p:cNvPr id="12" name="TextBox 11"/>
          <p:cNvSpPr txBox="1"/>
          <p:nvPr/>
        </p:nvSpPr>
        <p:spPr>
          <a:xfrm>
            <a:off x="1645920" y="3593592"/>
            <a:ext cx="4480560" cy="73152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An audio model reads the track’s style; the matcher ranks 7 venues with reasoning over genre, vibe, capacity, and bio context.</a:t>
            </a:r>
          </a:p>
        </p:txBody>
      </p:sp>
      <p:sp>
        <p:nvSpPr>
          <p:cNvPr id="13" name="Oval 12"/>
          <p:cNvSpPr/>
          <p:nvPr/>
        </p:nvSpPr>
        <p:spPr>
          <a:xfrm>
            <a:off x="685800" y="4526280"/>
            <a:ext cx="731520" cy="731520"/>
          </a:xfrm>
          <a:prstGeom prst="ellipse">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26280"/>
            <a:ext cx="822960" cy="731520"/>
          </a:xfrm>
          <a:prstGeom prst="rect">
            <a:avLst/>
          </a:prstGeom>
          <a:noFill/>
        </p:spPr>
        <p:txBody>
          <a:bodyPr wrap="square" lIns="0" rIns="0" tIns="0" bIns="0" anchor="ctr">
            <a:spAutoFit/>
          </a:bodyPr>
          <a:lstStyle/>
          <a:p>
            <a:pPr algn="ctr"/>
            <a:r>
              <a:rPr sz="2800" b="1" i="0">
                <a:solidFill>
                  <a:srgbClr val="0F0E0E"/>
                </a:solidFill>
                <a:latin typeface="Georgia"/>
              </a:rPr>
              <a:t>3</a:t>
            </a:r>
          </a:p>
        </p:txBody>
      </p:sp>
      <p:sp>
        <p:nvSpPr>
          <p:cNvPr id="15" name="TextBox 14"/>
          <p:cNvSpPr txBox="1"/>
          <p:nvPr/>
        </p:nvSpPr>
        <p:spPr>
          <a:xfrm>
            <a:off x="1645920" y="4480560"/>
            <a:ext cx="4480560" cy="411480"/>
          </a:xfrm>
          <a:prstGeom prst="rect">
            <a:avLst/>
          </a:prstGeom>
          <a:noFill/>
        </p:spPr>
        <p:txBody>
          <a:bodyPr wrap="square" lIns="0" rIns="0" tIns="0" bIns="0" anchor="t">
            <a:spAutoFit/>
          </a:bodyPr>
          <a:lstStyle/>
          <a:p>
            <a:pPr algn="l"/>
            <a:r>
              <a:rPr sz="1800" b="1" i="0">
                <a:solidFill>
                  <a:srgbClr val="E5E2E1"/>
                </a:solidFill>
                <a:latin typeface="Georgia"/>
              </a:rPr>
              <a:t>AI generates the night</a:t>
            </a:r>
          </a:p>
        </p:txBody>
      </p:sp>
      <p:sp>
        <p:nvSpPr>
          <p:cNvPr id="16" name="TextBox 15"/>
          <p:cNvSpPr txBox="1"/>
          <p:nvPr/>
        </p:nvSpPr>
        <p:spPr>
          <a:xfrm>
            <a:off x="1645920" y="4919472"/>
            <a:ext cx="4480560" cy="731520"/>
          </a:xfrm>
          <a:prstGeom prst="rect">
            <a:avLst/>
          </a:prstGeom>
          <a:noFill/>
        </p:spPr>
        <p:txBody>
          <a:bodyPr wrap="square" lIns="0" rIns="0" tIns="0" bIns="0" anchor="t">
            <a:spAutoFit/>
          </a:bodyPr>
          <a:lstStyle/>
          <a:p>
            <a:pPr algn="l">
              <a:lnSpc>
                <a:spcPct val="125000"/>
              </a:lnSpc>
            </a:pPr>
            <a:r>
              <a:rPr sz="1200" b="0" i="0">
                <a:solidFill>
                  <a:srgbClr val="D0C5AF"/>
                </a:solidFill>
                <a:latin typeface="Calibri"/>
              </a:rPr>
              <a:t>Music preview clip per matched venue plus a 10-second cinematic venue simulation conditioned on the room’s photo. Soundtrack syncs in the browser.</a:t>
            </a:r>
          </a:p>
        </p:txBody>
      </p:sp>
      <p:sp>
        <p:nvSpPr>
          <p:cNvPr id="17" name="Rectangle 16"/>
          <p:cNvSpPr/>
          <p:nvPr/>
        </p:nvSpPr>
        <p:spPr>
          <a:xfrm>
            <a:off x="6492240" y="1828800"/>
            <a:ext cx="5029200" cy="3840480"/>
          </a:xfrm>
          <a:prstGeom prst="rect">
            <a:avLst/>
          </a:prstGeom>
          <a:solidFill>
            <a:srgbClr val="1C1B1B"/>
          </a:solidFill>
          <a:ln w="19050">
            <a:solidFill>
              <a:srgbClr val="F2C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606040"/>
            <a:ext cx="5029200" cy="320040"/>
          </a:xfrm>
          <a:prstGeom prst="rect">
            <a:avLst/>
          </a:prstGeom>
          <a:noFill/>
        </p:spPr>
        <p:txBody>
          <a:bodyPr wrap="square" lIns="0" rIns="0" tIns="0" bIns="0" anchor="t">
            <a:spAutoFit/>
          </a:bodyPr>
          <a:lstStyle/>
          <a:p>
            <a:pPr algn="ctr"/>
            <a:r>
              <a:rPr sz="1400" b="1" i="0">
                <a:solidFill>
                  <a:srgbClr val="F2CA50"/>
                </a:solidFill>
                <a:latin typeface="Calibri"/>
              </a:rPr>
              <a:t>WATCH IT LIVE</a:t>
            </a:r>
          </a:p>
        </p:txBody>
      </p:sp>
      <p:sp>
        <p:nvSpPr>
          <p:cNvPr id="19" name="TextBox 18"/>
          <p:cNvSpPr txBox="1"/>
          <p:nvPr/>
        </p:nvSpPr>
        <p:spPr>
          <a:xfrm>
            <a:off x="6492240" y="3108960"/>
            <a:ext cx="5029200" cy="960120"/>
          </a:xfrm>
          <a:prstGeom prst="rect">
            <a:avLst/>
          </a:prstGeom>
          <a:noFill/>
        </p:spPr>
        <p:txBody>
          <a:bodyPr wrap="square" lIns="0" rIns="0" tIns="0" bIns="0" anchor="t">
            <a:spAutoFit/>
          </a:bodyPr>
          <a:lstStyle/>
          <a:p>
            <a:pPr algn="ctr">
              <a:lnSpc>
                <a:spcPct val="105000"/>
              </a:lnSpc>
            </a:pPr>
            <a:r>
              <a:rPr sz="4000" b="1" i="0">
                <a:solidFill>
                  <a:srgbClr val="E5E2E1"/>
                </a:solidFill>
                <a:latin typeface="Georgia"/>
              </a:rPr>
              <a:t>Switching to
the browser.</a:t>
            </a:r>
          </a:p>
        </p:txBody>
      </p:sp>
      <p:sp>
        <p:nvSpPr>
          <p:cNvPr id="20" name="TextBox 19"/>
          <p:cNvSpPr txBox="1"/>
          <p:nvPr/>
        </p:nvSpPr>
        <p:spPr>
          <a:xfrm>
            <a:off x="6492240" y="4526280"/>
            <a:ext cx="5029200" cy="365760"/>
          </a:xfrm>
          <a:prstGeom prst="rect">
            <a:avLst/>
          </a:prstGeom>
          <a:noFill/>
        </p:spPr>
        <p:txBody>
          <a:bodyPr wrap="square" lIns="0" rIns="0" tIns="0" bIns="0" anchor="t">
            <a:spAutoFit/>
          </a:bodyPr>
          <a:lstStyle/>
          <a:p>
            <a:pPr algn="ctr"/>
            <a:r>
              <a:rPr sz="1800" b="1" i="0">
                <a:solidFill>
                  <a:srgbClr val="F2CA50"/>
                </a:solidFill>
                <a:latin typeface="Calibri"/>
              </a:rPr>
              <a:t>/personal-demo.html</a:t>
            </a:r>
          </a:p>
        </p:txBody>
      </p:sp>
      <p:sp>
        <p:nvSpPr>
          <p:cNvPr id="21" name="TextBox 20"/>
          <p:cNvSpPr txBox="1"/>
          <p:nvPr/>
        </p:nvSpPr>
        <p:spPr>
          <a:xfrm>
            <a:off x="6949440" y="4983480"/>
            <a:ext cx="4114800" cy="594360"/>
          </a:xfrm>
          <a:prstGeom prst="rect">
            <a:avLst/>
          </a:prstGeom>
          <a:noFill/>
        </p:spPr>
        <p:txBody>
          <a:bodyPr wrap="square" lIns="0" rIns="0" tIns="0" bIns="0" anchor="t">
            <a:spAutoFit/>
          </a:bodyPr>
          <a:lstStyle/>
          <a:p>
            <a:pPr algn="ctr">
              <a:lnSpc>
                <a:spcPct val="130000"/>
              </a:lnSpc>
            </a:pPr>
            <a:r>
              <a:rPr sz="1200" b="0" i="1">
                <a:solidFill>
                  <a:srgbClr val="D0C5AF"/>
                </a:solidFill>
                <a:latin typeface="Georgia"/>
              </a:rPr>
              <a:t>Real-time venue match, AI music preview, and venue simulation.</a:t>
            </a:r>
          </a:p>
        </p:txBody>
      </p:sp>
      <p:sp>
        <p:nvSpPr>
          <p:cNvPr id="22" name="Rectangle 21"/>
          <p:cNvSpPr/>
          <p:nvPr/>
        </p:nvSpPr>
        <p:spPr>
          <a:xfrm>
            <a:off x="640080" y="5989320"/>
            <a:ext cx="10908792" cy="502920"/>
          </a:xfrm>
          <a:prstGeom prst="rect">
            <a:avLst/>
          </a:prstGeom>
          <a:solidFill>
            <a:srgbClr val="1C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5989320"/>
            <a:ext cx="73152" cy="50292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6080760"/>
            <a:ext cx="10515600" cy="365760"/>
          </a:xfrm>
          <a:prstGeom prst="rect">
            <a:avLst/>
          </a:prstGeom>
          <a:noFill/>
        </p:spPr>
        <p:txBody>
          <a:bodyPr wrap="square" lIns="0" rIns="0" tIns="0" bIns="0" anchor="ctr">
            <a:spAutoFit/>
          </a:bodyPr>
          <a:lstStyle/>
          <a:p>
            <a:pPr algn="l"/>
            <a:r>
              <a:rPr sz="1200" b="0" i="0">
                <a:solidFill>
                  <a:srgbClr val="E5E2E1"/>
                </a:solidFill>
                <a:latin typeface="Calibri"/>
              </a:rPr>
              <a:t>One stack  ·  swappable models  ·  ~$0.05 per personalized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5486400" cy="365760"/>
          </a:xfrm>
          <a:prstGeom prst="rect">
            <a:avLst/>
          </a:prstGeom>
          <a:noFill/>
        </p:spPr>
        <p:txBody>
          <a:bodyPr wrap="square" lIns="0" rIns="0" tIns="0" bIns="0" anchor="t">
            <a:spAutoFit/>
          </a:bodyPr>
          <a:lstStyle/>
          <a:p>
            <a:pPr algn="l"/>
            <a:r>
              <a:rPr sz="1100" b="1" i="0">
                <a:solidFill>
                  <a:srgbClr val="F2CA50"/>
                </a:solidFill>
                <a:latin typeface="Calibri"/>
              </a:rPr>
              <a:t>USER STUDY</a:t>
            </a:r>
          </a:p>
        </p:txBody>
      </p:sp>
      <p:sp>
        <p:nvSpPr>
          <p:cNvPr id="4" name="TextBox 3"/>
          <p:cNvSpPr txBox="1"/>
          <p:nvPr/>
        </p:nvSpPr>
        <p:spPr>
          <a:xfrm>
            <a:off x="640080" y="868680"/>
            <a:ext cx="10972800" cy="914400"/>
          </a:xfrm>
          <a:prstGeom prst="rect">
            <a:avLst/>
          </a:prstGeom>
          <a:noFill/>
        </p:spPr>
        <p:txBody>
          <a:bodyPr wrap="square" lIns="0" rIns="0" tIns="0" bIns="0" anchor="t">
            <a:spAutoFit/>
          </a:bodyPr>
          <a:lstStyle/>
          <a:p>
            <a:pPr algn="l"/>
            <a:r>
              <a:rPr sz="4200" b="1" i="0">
                <a:solidFill>
                  <a:srgbClr val="E5E2E1"/>
                </a:solidFill>
                <a:latin typeface="Georgia"/>
              </a:rPr>
              <a:t>First-user walkthrough.</a:t>
            </a:r>
          </a:p>
        </p:txBody>
      </p:sp>
      <p:sp>
        <p:nvSpPr>
          <p:cNvPr id="5" name="Rectangle 4"/>
          <p:cNvSpPr/>
          <p:nvPr/>
        </p:nvSpPr>
        <p:spPr>
          <a:xfrm>
            <a:off x="640080" y="1828800"/>
            <a:ext cx="5317236" cy="40233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828800"/>
            <a:ext cx="457200" cy="73152"/>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4585716" cy="365760"/>
          </a:xfrm>
          <a:prstGeom prst="rect">
            <a:avLst/>
          </a:prstGeom>
          <a:noFill/>
        </p:spPr>
        <p:txBody>
          <a:bodyPr wrap="square" lIns="0" rIns="0" tIns="0" bIns="0" anchor="t">
            <a:spAutoFit/>
          </a:bodyPr>
          <a:lstStyle/>
          <a:p>
            <a:pPr algn="l"/>
            <a:r>
              <a:rPr sz="1100" b="1" i="0">
                <a:solidFill>
                  <a:srgbClr val="F2CA50"/>
                </a:solidFill>
                <a:latin typeface="Calibri"/>
              </a:rPr>
              <a:t>WHO TESTED IT</a:t>
            </a:r>
          </a:p>
        </p:txBody>
      </p:sp>
      <p:sp>
        <p:nvSpPr>
          <p:cNvPr id="8" name="TextBox 7"/>
          <p:cNvSpPr txBox="1"/>
          <p:nvPr/>
        </p:nvSpPr>
        <p:spPr>
          <a:xfrm>
            <a:off x="1005840" y="2468880"/>
            <a:ext cx="4585716" cy="502920"/>
          </a:xfrm>
          <a:prstGeom prst="rect">
            <a:avLst/>
          </a:prstGeom>
          <a:noFill/>
        </p:spPr>
        <p:txBody>
          <a:bodyPr wrap="square" lIns="0" rIns="0" tIns="0" bIns="0" anchor="t">
            <a:spAutoFit/>
          </a:bodyPr>
          <a:lstStyle/>
          <a:p>
            <a:pPr algn="l"/>
            <a:r>
              <a:rPr sz="2200" b="1" i="0">
                <a:solidFill>
                  <a:srgbClr val="E5E2E1"/>
                </a:solidFill>
                <a:latin typeface="Georgia"/>
              </a:rPr>
              <a:t>Santiago Vuilleumier</a:t>
            </a:r>
          </a:p>
        </p:txBody>
      </p:sp>
      <p:sp>
        <p:nvSpPr>
          <p:cNvPr id="9" name="TextBox 8"/>
          <p:cNvSpPr txBox="1"/>
          <p:nvPr/>
        </p:nvSpPr>
        <p:spPr>
          <a:xfrm>
            <a:off x="1005840" y="2971800"/>
            <a:ext cx="4585716" cy="365760"/>
          </a:xfrm>
          <a:prstGeom prst="rect">
            <a:avLst/>
          </a:prstGeom>
          <a:noFill/>
        </p:spPr>
        <p:txBody>
          <a:bodyPr wrap="square" lIns="0" rIns="0" tIns="0" bIns="0" anchor="t">
            <a:spAutoFit/>
          </a:bodyPr>
          <a:lstStyle/>
          <a:p>
            <a:pPr algn="l"/>
            <a:r>
              <a:rPr sz="1300" b="0" i="1">
                <a:solidFill>
                  <a:srgbClr val="D0C5AF"/>
                </a:solidFill>
                <a:latin typeface="Georgia"/>
              </a:rPr>
              <a:t>Miami DJ; founder &amp; curator, Casa Whispers</a:t>
            </a:r>
          </a:p>
        </p:txBody>
      </p:sp>
      <p:sp>
        <p:nvSpPr>
          <p:cNvPr id="10" name="TextBox 9"/>
          <p:cNvSpPr txBox="1"/>
          <p:nvPr/>
        </p:nvSpPr>
        <p:spPr>
          <a:xfrm>
            <a:off x="1005840" y="3520440"/>
            <a:ext cx="4585716" cy="2194560"/>
          </a:xfrm>
          <a:prstGeom prst="rect">
            <a:avLst/>
          </a:prstGeom>
          <a:noFill/>
        </p:spPr>
        <p:txBody>
          <a:bodyPr wrap="square" lIns="0" rIns="0" tIns="0" bIns="0" anchor="t">
            <a:spAutoFit/>
          </a:bodyPr>
          <a:lstStyle/>
          <a:p>
            <a:pPr algn="l">
              <a:lnSpc>
                <a:spcPct val="145000"/>
              </a:lnSpc>
            </a:pPr>
            <a:r>
              <a:rPr sz="1300" b="0" i="0">
                <a:solidFill>
                  <a:srgbClr val="D0C5AF"/>
                </a:solidFill>
                <a:latin typeface="Calibri"/>
              </a:rPr>
              <a:t>Protocol:</a:t>
            </a:r>
          </a:p>
          <a:p>
            <a:pPr algn="l">
              <a:lnSpc>
                <a:spcPct val="145000"/>
              </a:lnSpc>
            </a:pPr>
            <a:r>
              <a:rPr sz="1300" b="0" i="0">
                <a:solidFill>
                  <a:srgbClr val="D0C5AF"/>
                </a:solidFill>
                <a:latin typeface="Calibri"/>
              </a:rPr>
              <a:t>  ·  Uploaded a 30-second sample of a recent set</a:t>
            </a:r>
          </a:p>
          <a:p>
            <a:pPr algn="l">
              <a:lnSpc>
                <a:spcPct val="145000"/>
              </a:lnSpc>
            </a:pPr>
            <a:r>
              <a:rPr sz="1300" b="0" i="0">
                <a:solidFill>
                  <a:srgbClr val="D0C5AF"/>
                </a:solidFill>
                <a:latin typeface="Calibri"/>
              </a:rPr>
              <a:t>  ·  Provided photos and a free-text style description</a:t>
            </a:r>
          </a:p>
          <a:p>
            <a:pPr algn="l">
              <a:lnSpc>
                <a:spcPct val="145000"/>
              </a:lnSpc>
            </a:pPr>
            <a:r>
              <a:rPr sz="1300" b="0" i="0">
                <a:solidFill>
                  <a:srgbClr val="D0C5AF"/>
                </a:solidFill>
                <a:latin typeface="Calibri"/>
              </a:rPr>
              <a:t>  ·  Reviewed the top-3 venue ranking and reasoning</a:t>
            </a:r>
          </a:p>
          <a:p>
            <a:pPr algn="l">
              <a:lnSpc>
                <a:spcPct val="145000"/>
              </a:lnSpc>
            </a:pPr>
            <a:r>
              <a:rPr sz="1300" b="0" i="0">
                <a:solidFill>
                  <a:srgbClr val="D0C5AF"/>
                </a:solidFill>
                <a:latin typeface="Calibri"/>
              </a:rPr>
              <a:t>  ·  Played the AI music preview and venue simulation</a:t>
            </a:r>
          </a:p>
          <a:p>
            <a:pPr algn="l">
              <a:lnSpc>
                <a:spcPct val="145000"/>
              </a:lnSpc>
            </a:pPr>
            <a:r>
              <a:rPr sz="1300" b="0" i="0">
                <a:solidFill>
                  <a:srgbClr val="D0C5AF"/>
                </a:solidFill>
                <a:latin typeface="Calibri"/>
              </a:rPr>
              <a:t>  ·  Talked through perceived fit and confidence after</a:t>
            </a:r>
          </a:p>
        </p:txBody>
      </p:sp>
      <p:sp>
        <p:nvSpPr>
          <p:cNvPr id="11" name="Rectangle 10"/>
          <p:cNvSpPr/>
          <p:nvPr/>
        </p:nvSpPr>
        <p:spPr>
          <a:xfrm>
            <a:off x="6231636" y="1828800"/>
            <a:ext cx="5317236" cy="40233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828800"/>
            <a:ext cx="457200" cy="73152"/>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7396" y="2103120"/>
            <a:ext cx="4585716" cy="365760"/>
          </a:xfrm>
          <a:prstGeom prst="rect">
            <a:avLst/>
          </a:prstGeom>
          <a:noFill/>
        </p:spPr>
        <p:txBody>
          <a:bodyPr wrap="square" lIns="0" rIns="0" tIns="0" bIns="0" anchor="t">
            <a:spAutoFit/>
          </a:bodyPr>
          <a:lstStyle/>
          <a:p>
            <a:pPr algn="l"/>
            <a:r>
              <a:rPr sz="1100" b="1" i="0">
                <a:solidFill>
                  <a:srgbClr val="F2CA50"/>
                </a:solidFill>
                <a:latin typeface="Calibri"/>
              </a:rPr>
              <a:t>WHAT’S NEXT</a:t>
            </a:r>
          </a:p>
        </p:txBody>
      </p:sp>
      <p:sp>
        <p:nvSpPr>
          <p:cNvPr id="14" name="TextBox 13"/>
          <p:cNvSpPr txBox="1"/>
          <p:nvPr/>
        </p:nvSpPr>
        <p:spPr>
          <a:xfrm>
            <a:off x="6597396" y="2468880"/>
            <a:ext cx="4585716" cy="502920"/>
          </a:xfrm>
          <a:prstGeom prst="rect">
            <a:avLst/>
          </a:prstGeom>
          <a:noFill/>
        </p:spPr>
        <p:txBody>
          <a:bodyPr wrap="square" lIns="0" rIns="0" tIns="0" bIns="0" anchor="t">
            <a:spAutoFit/>
          </a:bodyPr>
          <a:lstStyle/>
          <a:p>
            <a:pPr algn="l"/>
            <a:r>
              <a:rPr sz="2200" b="1" i="0">
                <a:solidFill>
                  <a:srgbClr val="E5E2E1"/>
                </a:solidFill>
                <a:latin typeface="Georgia"/>
              </a:rPr>
              <a:t>Broader study</a:t>
            </a:r>
          </a:p>
        </p:txBody>
      </p:sp>
      <p:sp>
        <p:nvSpPr>
          <p:cNvPr id="15" name="TextBox 14"/>
          <p:cNvSpPr txBox="1"/>
          <p:nvPr/>
        </p:nvSpPr>
        <p:spPr>
          <a:xfrm>
            <a:off x="6597396" y="2971800"/>
            <a:ext cx="4585716" cy="365760"/>
          </a:xfrm>
          <a:prstGeom prst="rect">
            <a:avLst/>
          </a:prstGeom>
          <a:noFill/>
        </p:spPr>
        <p:txBody>
          <a:bodyPr wrap="square" lIns="0" rIns="0" tIns="0" bIns="0" anchor="t">
            <a:spAutoFit/>
          </a:bodyPr>
          <a:lstStyle/>
          <a:p>
            <a:pPr algn="l"/>
            <a:r>
              <a:rPr sz="1300" b="0" i="1">
                <a:solidFill>
                  <a:srgbClr val="D0C5AF"/>
                </a:solidFill>
                <a:latin typeface="Georgia"/>
              </a:rPr>
              <a:t>Same protocol, wider sample, post-presentation.</a:t>
            </a:r>
          </a:p>
        </p:txBody>
      </p:sp>
      <p:sp>
        <p:nvSpPr>
          <p:cNvPr id="16" name="TextBox 15"/>
          <p:cNvSpPr txBox="1"/>
          <p:nvPr/>
        </p:nvSpPr>
        <p:spPr>
          <a:xfrm>
            <a:off x="6597396" y="3520440"/>
            <a:ext cx="4585716" cy="2194560"/>
          </a:xfrm>
          <a:prstGeom prst="rect">
            <a:avLst/>
          </a:prstGeom>
          <a:noFill/>
        </p:spPr>
        <p:txBody>
          <a:bodyPr wrap="square" lIns="0" rIns="0" tIns="0" bIns="0" anchor="t">
            <a:spAutoFit/>
          </a:bodyPr>
          <a:lstStyle/>
          <a:p>
            <a:pPr algn="l">
              <a:lnSpc>
                <a:spcPct val="145000"/>
              </a:lnSpc>
            </a:pPr>
            <a:r>
              <a:rPr sz="1300" b="0" i="0">
                <a:solidFill>
                  <a:srgbClr val="D0C5AF"/>
                </a:solidFill>
                <a:latin typeface="Calibri"/>
              </a:rPr>
              <a:t>Plan:</a:t>
            </a:r>
          </a:p>
          <a:p>
            <a:pPr algn="l">
              <a:lnSpc>
                <a:spcPct val="145000"/>
              </a:lnSpc>
            </a:pPr>
            <a:r>
              <a:rPr sz="1300" b="0" i="0">
                <a:solidFill>
                  <a:srgbClr val="D0C5AF"/>
                </a:solidFill>
                <a:latin typeface="Calibri"/>
              </a:rPr>
              <a:t>  ·  3 to 5 working DJs across genres</a:t>
            </a:r>
          </a:p>
          <a:p>
            <a:pPr algn="l">
              <a:lnSpc>
                <a:spcPct val="145000"/>
              </a:lnSpc>
            </a:pPr>
            <a:r>
              <a:rPr sz="1300" b="0" i="0">
                <a:solidFill>
                  <a:srgbClr val="D0C5AF"/>
                </a:solidFill>
                <a:latin typeface="Calibri"/>
              </a:rPr>
              <a:t>  ·  2 to 3 venue managers / promoters</a:t>
            </a:r>
          </a:p>
          <a:p>
            <a:pPr algn="l">
              <a:lnSpc>
                <a:spcPct val="145000"/>
              </a:lnSpc>
            </a:pPr>
            <a:r>
              <a:rPr sz="1300" b="0" i="0">
                <a:solidFill>
                  <a:srgbClr val="D0C5AF"/>
                </a:solidFill>
                <a:latin typeface="Calibri"/>
              </a:rPr>
              <a:t>  ·  Same protocol; blind ratings of top-3 matches</a:t>
            </a:r>
          </a:p>
          <a:p>
            <a:pPr algn="l">
              <a:lnSpc>
                <a:spcPct val="145000"/>
              </a:lnSpc>
            </a:pPr>
            <a:r>
              <a:rPr sz="1300" b="0" i="0">
                <a:solidFill>
                  <a:srgbClr val="D0C5AF"/>
                </a:solidFill>
                <a:latin typeface="Calibri"/>
              </a:rPr>
              <a:t>  ·  Mix of audio uploads and typed-style entries</a:t>
            </a:r>
          </a:p>
          <a:p>
            <a:pPr algn="l">
              <a:lnSpc>
                <a:spcPct val="145000"/>
              </a:lnSpc>
            </a:pPr>
            <a:r>
              <a:rPr sz="1300" b="0" i="0">
                <a:solidFill>
                  <a:srgbClr val="D0C5AF"/>
                </a:solidFill>
                <a:latin typeface="Calibri"/>
              </a:rPr>
              <a:t>  ·  Capture quotes for a follow-up writeup</a:t>
            </a:r>
          </a:p>
        </p:txBody>
      </p:sp>
      <p:sp>
        <p:nvSpPr>
          <p:cNvPr id="17" name="TextBox 16"/>
          <p:cNvSpPr txBox="1"/>
          <p:nvPr/>
        </p:nvSpPr>
        <p:spPr>
          <a:xfrm>
            <a:off x="640080" y="6263640"/>
            <a:ext cx="10908792" cy="274320"/>
          </a:xfrm>
          <a:prstGeom prst="rect">
            <a:avLst/>
          </a:prstGeom>
          <a:noFill/>
        </p:spPr>
        <p:txBody>
          <a:bodyPr wrap="square" lIns="0" rIns="0" tIns="0" bIns="0" anchor="t">
            <a:spAutoFit/>
          </a:bodyPr>
          <a:lstStyle/>
          <a:p>
            <a:pPr algn="l"/>
            <a:r>
              <a:rPr sz="1000" b="0" i="1">
                <a:solidFill>
                  <a:srgbClr val="8A8377"/>
                </a:solidFill>
                <a:latin typeface="Calibri"/>
              </a:rPr>
              <a:t>n=1 walkthrough with Santiago Vuilleumier (Casa Whispers, Miami). Specific observations to be captured in the broader study.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0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5486400" cy="274320"/>
          </a:xfrm>
          <a:prstGeom prst="rect">
            <a:avLst/>
          </a:prstGeom>
          <a:noFill/>
        </p:spPr>
        <p:txBody>
          <a:bodyPr wrap="square" lIns="0" rIns="0" tIns="0" bIns="0" anchor="t">
            <a:spAutoFit/>
          </a:bodyPr>
          <a:lstStyle/>
          <a:p>
            <a:pPr algn="l"/>
            <a:r>
              <a:rPr sz="1100" b="1" i="0">
                <a:solidFill>
                  <a:srgbClr val="F2CA50"/>
                </a:solidFill>
                <a:latin typeface="Calibri"/>
              </a:rPr>
              <a:t>EVALUATION</a:t>
            </a:r>
          </a:p>
        </p:txBody>
      </p:sp>
      <p:sp>
        <p:nvSpPr>
          <p:cNvPr id="4" name="TextBox 3"/>
          <p:cNvSpPr txBox="1"/>
          <p:nvPr/>
        </p:nvSpPr>
        <p:spPr>
          <a:xfrm>
            <a:off x="640080" y="594360"/>
            <a:ext cx="11430000" cy="594360"/>
          </a:xfrm>
          <a:prstGeom prst="rect">
            <a:avLst/>
          </a:prstGeom>
          <a:noFill/>
        </p:spPr>
        <p:txBody>
          <a:bodyPr wrap="square" lIns="0" rIns="0" tIns="0" bIns="0" anchor="t">
            <a:spAutoFit/>
          </a:bodyPr>
          <a:lstStyle/>
          <a:p>
            <a:pPr algn="l"/>
            <a:r>
              <a:rPr sz="3200" b="1" i="0">
                <a:solidFill>
                  <a:srgbClr val="E5E2E1"/>
                </a:solidFill>
                <a:latin typeface="Georgia"/>
              </a:rPr>
              <a:t>How we know it’s working, or not.</a:t>
            </a:r>
          </a:p>
        </p:txBody>
      </p:sp>
      <p:sp>
        <p:nvSpPr>
          <p:cNvPr id="5" name="Rectangle 4"/>
          <p:cNvSpPr/>
          <p:nvPr/>
        </p:nvSpPr>
        <p:spPr>
          <a:xfrm>
            <a:off x="640080" y="1325880"/>
            <a:ext cx="10908792" cy="132588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25880"/>
            <a:ext cx="73152" cy="132588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44752"/>
            <a:ext cx="9144000" cy="292608"/>
          </a:xfrm>
          <a:prstGeom prst="rect">
            <a:avLst/>
          </a:prstGeom>
          <a:noFill/>
        </p:spPr>
        <p:txBody>
          <a:bodyPr wrap="square" lIns="0" rIns="0" tIns="0" bIns="0" anchor="t">
            <a:spAutoFit/>
          </a:bodyPr>
          <a:lstStyle/>
          <a:p>
            <a:pPr algn="l"/>
            <a:r>
              <a:rPr sz="1100" b="1" i="0">
                <a:solidFill>
                  <a:srgbClr val="F2CA50"/>
                </a:solidFill>
                <a:latin typeface="Calibri"/>
              </a:rPr>
              <a:t>§9.3  DJ-MATCH BLIND EVAL  ·  21 (VENUE, DJ) PAIRS  ·  HUMAN-RATED 1 TO 5</a:t>
            </a:r>
          </a:p>
        </p:txBody>
      </p:sp>
      <p:sp>
        <p:nvSpPr>
          <p:cNvPr id="8" name="TextBox 7"/>
          <p:cNvSpPr txBox="1"/>
          <p:nvPr/>
        </p:nvSpPr>
        <p:spPr>
          <a:xfrm>
            <a:off x="914400" y="1828800"/>
            <a:ext cx="3291840" cy="457200"/>
          </a:xfrm>
          <a:prstGeom prst="rect">
            <a:avLst/>
          </a:prstGeom>
          <a:noFill/>
        </p:spPr>
        <p:txBody>
          <a:bodyPr wrap="square" lIns="0" rIns="0" tIns="0" bIns="0" anchor="t">
            <a:spAutoFit/>
          </a:bodyPr>
          <a:lstStyle/>
          <a:p>
            <a:pPr algn="l"/>
            <a:r>
              <a:rPr sz="3200" b="1" i="0">
                <a:solidFill>
                  <a:srgbClr val="DC2626"/>
                </a:solidFill>
                <a:latin typeface="Georgia"/>
              </a:rPr>
              <a:t>3.71 / 5.00</a:t>
            </a:r>
          </a:p>
        </p:txBody>
      </p:sp>
      <p:sp>
        <p:nvSpPr>
          <p:cNvPr id="9" name="TextBox 8"/>
          <p:cNvSpPr txBox="1"/>
          <p:nvPr/>
        </p:nvSpPr>
        <p:spPr>
          <a:xfrm>
            <a:off x="914400" y="2286000"/>
            <a:ext cx="3291840" cy="201168"/>
          </a:xfrm>
          <a:prstGeom prst="rect">
            <a:avLst/>
          </a:prstGeom>
          <a:noFill/>
        </p:spPr>
        <p:txBody>
          <a:bodyPr wrap="square" lIns="0" rIns="0" tIns="0" bIns="0" anchor="t">
            <a:spAutoFit/>
          </a:bodyPr>
          <a:lstStyle/>
          <a:p>
            <a:pPr algn="l"/>
            <a:r>
              <a:rPr sz="1200" b="1" i="0">
                <a:solidFill>
                  <a:srgbClr val="E5E2E1"/>
                </a:solidFill>
                <a:latin typeface="Calibri"/>
              </a:rPr>
              <a:t>Match Precision</a:t>
            </a:r>
          </a:p>
        </p:txBody>
      </p:sp>
      <p:sp>
        <p:nvSpPr>
          <p:cNvPr id="10" name="TextBox 9"/>
          <p:cNvSpPr txBox="1"/>
          <p:nvPr/>
        </p:nvSpPr>
        <p:spPr>
          <a:xfrm>
            <a:off x="914400" y="2487168"/>
            <a:ext cx="3291840" cy="146304"/>
          </a:xfrm>
          <a:prstGeom prst="rect">
            <a:avLst/>
          </a:prstGeom>
          <a:noFill/>
        </p:spPr>
        <p:txBody>
          <a:bodyPr wrap="square" lIns="0" rIns="0" tIns="0" bIns="0" anchor="t">
            <a:spAutoFit/>
          </a:bodyPr>
          <a:lstStyle/>
          <a:p>
            <a:pPr algn="l"/>
            <a:r>
              <a:rPr sz="900" b="0" i="0">
                <a:solidFill>
                  <a:srgbClr val="8A8377"/>
                </a:solidFill>
                <a:latin typeface="Calibri"/>
              </a:rPr>
              <a:t>target ≥ 4.00</a:t>
            </a:r>
          </a:p>
        </p:txBody>
      </p:sp>
      <p:sp>
        <p:nvSpPr>
          <p:cNvPr id="11" name="TextBox 10"/>
          <p:cNvSpPr txBox="1"/>
          <p:nvPr/>
        </p:nvSpPr>
        <p:spPr>
          <a:xfrm>
            <a:off x="4389120" y="1828800"/>
            <a:ext cx="3291840" cy="457200"/>
          </a:xfrm>
          <a:prstGeom prst="rect">
            <a:avLst/>
          </a:prstGeom>
          <a:noFill/>
        </p:spPr>
        <p:txBody>
          <a:bodyPr wrap="square" lIns="0" rIns="0" tIns="0" bIns="0" anchor="t">
            <a:spAutoFit/>
          </a:bodyPr>
          <a:lstStyle/>
          <a:p>
            <a:pPr algn="l"/>
            <a:r>
              <a:rPr sz="3200" b="1" i="0">
                <a:solidFill>
                  <a:srgbClr val="DC2626"/>
                </a:solidFill>
                <a:latin typeface="Georgia"/>
              </a:rPr>
              <a:t>28.6%</a:t>
            </a:r>
          </a:p>
        </p:txBody>
      </p:sp>
      <p:sp>
        <p:nvSpPr>
          <p:cNvPr id="12" name="TextBox 11"/>
          <p:cNvSpPr txBox="1"/>
          <p:nvPr/>
        </p:nvSpPr>
        <p:spPr>
          <a:xfrm>
            <a:off x="4389120" y="2286000"/>
            <a:ext cx="3291840" cy="201168"/>
          </a:xfrm>
          <a:prstGeom prst="rect">
            <a:avLst/>
          </a:prstGeom>
          <a:noFill/>
        </p:spPr>
        <p:txBody>
          <a:bodyPr wrap="square" lIns="0" rIns="0" tIns="0" bIns="0" anchor="t">
            <a:spAutoFit/>
          </a:bodyPr>
          <a:lstStyle/>
          <a:p>
            <a:pPr algn="l"/>
            <a:r>
              <a:rPr sz="1200" b="1" i="0">
                <a:solidFill>
                  <a:srgbClr val="E5E2E1"/>
                </a:solidFill>
                <a:latin typeface="Calibri"/>
              </a:rPr>
              <a:t>Rank Accuracy (top-1)</a:t>
            </a:r>
          </a:p>
        </p:txBody>
      </p:sp>
      <p:sp>
        <p:nvSpPr>
          <p:cNvPr id="13" name="TextBox 12"/>
          <p:cNvSpPr txBox="1"/>
          <p:nvPr/>
        </p:nvSpPr>
        <p:spPr>
          <a:xfrm>
            <a:off x="4389120" y="2487168"/>
            <a:ext cx="3291840" cy="146304"/>
          </a:xfrm>
          <a:prstGeom prst="rect">
            <a:avLst/>
          </a:prstGeom>
          <a:noFill/>
        </p:spPr>
        <p:txBody>
          <a:bodyPr wrap="square" lIns="0" rIns="0" tIns="0" bIns="0" anchor="t">
            <a:spAutoFit/>
          </a:bodyPr>
          <a:lstStyle/>
          <a:p>
            <a:pPr algn="l"/>
            <a:r>
              <a:rPr sz="900" b="0" i="0">
                <a:solidFill>
                  <a:srgbClr val="8A8377"/>
                </a:solidFill>
                <a:latin typeface="Calibri"/>
              </a:rPr>
              <a:t>target ≥ 70%</a:t>
            </a:r>
          </a:p>
        </p:txBody>
      </p:sp>
      <p:sp>
        <p:nvSpPr>
          <p:cNvPr id="14" name="TextBox 13"/>
          <p:cNvSpPr txBox="1"/>
          <p:nvPr/>
        </p:nvSpPr>
        <p:spPr>
          <a:xfrm>
            <a:off x="7863840" y="1828800"/>
            <a:ext cx="3291840" cy="457200"/>
          </a:xfrm>
          <a:prstGeom prst="rect">
            <a:avLst/>
          </a:prstGeom>
          <a:noFill/>
        </p:spPr>
        <p:txBody>
          <a:bodyPr wrap="square" lIns="0" rIns="0" tIns="0" bIns="0" anchor="t">
            <a:spAutoFit/>
          </a:bodyPr>
          <a:lstStyle/>
          <a:p>
            <a:pPr algn="l"/>
            <a:r>
              <a:rPr sz="3200" b="1" i="0">
                <a:solidFill>
                  <a:srgbClr val="F59E0B"/>
                </a:solidFill>
                <a:latin typeface="Georgia"/>
              </a:rPr>
              <a:t>2 / 7</a:t>
            </a:r>
          </a:p>
        </p:txBody>
      </p:sp>
      <p:sp>
        <p:nvSpPr>
          <p:cNvPr id="15" name="TextBox 14"/>
          <p:cNvSpPr txBox="1"/>
          <p:nvPr/>
        </p:nvSpPr>
        <p:spPr>
          <a:xfrm>
            <a:off x="7863840" y="2286000"/>
            <a:ext cx="3291840" cy="201168"/>
          </a:xfrm>
          <a:prstGeom prst="rect">
            <a:avLst/>
          </a:prstGeom>
          <a:noFill/>
        </p:spPr>
        <p:txBody>
          <a:bodyPr wrap="square" lIns="0" rIns="0" tIns="0" bIns="0" anchor="t">
            <a:spAutoFit/>
          </a:bodyPr>
          <a:lstStyle/>
          <a:p>
            <a:pPr algn="l"/>
            <a:r>
              <a:rPr sz="1200" b="1" i="0">
                <a:solidFill>
                  <a:srgbClr val="E5E2E1"/>
                </a:solidFill>
                <a:latin typeface="Calibri"/>
              </a:rPr>
              <a:t>Top-1 matched human pick</a:t>
            </a:r>
          </a:p>
        </p:txBody>
      </p:sp>
      <p:sp>
        <p:nvSpPr>
          <p:cNvPr id="16" name="TextBox 15"/>
          <p:cNvSpPr txBox="1"/>
          <p:nvPr/>
        </p:nvSpPr>
        <p:spPr>
          <a:xfrm>
            <a:off x="7863840" y="2487168"/>
            <a:ext cx="3291840" cy="146304"/>
          </a:xfrm>
          <a:prstGeom prst="rect">
            <a:avLst/>
          </a:prstGeom>
          <a:noFill/>
        </p:spPr>
        <p:txBody>
          <a:bodyPr wrap="square" lIns="0" rIns="0" tIns="0" bIns="0" anchor="t">
            <a:spAutoFit/>
          </a:bodyPr>
          <a:lstStyle/>
          <a:p>
            <a:pPr algn="l"/>
            <a:r>
              <a:rPr sz="900" b="0" i="0">
                <a:solidFill>
                  <a:srgbClr val="8A8377"/>
                </a:solidFill>
                <a:latin typeface="Calibri"/>
              </a:rPr>
              <a:t>FABRIC LONDON · THE NEST</a:t>
            </a:r>
          </a:p>
        </p:txBody>
      </p:sp>
      <p:sp>
        <p:nvSpPr>
          <p:cNvPr id="17" name="Rectangle 16"/>
          <p:cNvSpPr/>
          <p:nvPr/>
        </p:nvSpPr>
        <p:spPr>
          <a:xfrm>
            <a:off x="640080" y="2743200"/>
            <a:ext cx="10908792" cy="777240"/>
          </a:xfrm>
          <a:prstGeom prst="rect">
            <a:avLst/>
          </a:prstGeom>
          <a:solidFill>
            <a:srgbClr val="1C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2743200"/>
            <a:ext cx="73152" cy="777240"/>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2834640"/>
            <a:ext cx="10058400" cy="292608"/>
          </a:xfrm>
          <a:prstGeom prst="rect">
            <a:avLst/>
          </a:prstGeom>
          <a:noFill/>
        </p:spPr>
        <p:txBody>
          <a:bodyPr wrap="square" lIns="0" rIns="0" tIns="0" bIns="0" anchor="t">
            <a:spAutoFit/>
          </a:bodyPr>
          <a:lstStyle/>
          <a:p>
            <a:pPr algn="l"/>
            <a:r>
              <a:rPr sz="1100" b="1" i="0">
                <a:solidFill>
                  <a:srgbClr val="F2CA50"/>
                </a:solidFill>
                <a:latin typeface="Calibri"/>
              </a:rPr>
              <a:t>FAILURE MODE THE EVAL CAUGHT, PRE-DEPLOYMENT</a:t>
            </a:r>
          </a:p>
        </p:txBody>
      </p:sp>
      <p:sp>
        <p:nvSpPr>
          <p:cNvPr id="20" name="TextBox 19"/>
          <p:cNvSpPr txBox="1"/>
          <p:nvPr/>
        </p:nvSpPr>
        <p:spPr>
          <a:xfrm>
            <a:off x="914400" y="3127248"/>
            <a:ext cx="10515600" cy="365760"/>
          </a:xfrm>
          <a:prstGeom prst="rect">
            <a:avLst/>
          </a:prstGeom>
          <a:noFill/>
        </p:spPr>
        <p:txBody>
          <a:bodyPr wrap="square" lIns="0" rIns="0" tIns="0" bIns="0" anchor="t">
            <a:spAutoFit/>
          </a:bodyPr>
          <a:lstStyle/>
          <a:p>
            <a:pPr algn="l">
              <a:lnSpc>
                <a:spcPct val="130000"/>
              </a:lnSpc>
            </a:pPr>
            <a:r>
              <a:rPr sz="1200" b="0" i="0">
                <a:solidFill>
                  <a:srgbClr val="E5E2E1"/>
                </a:solidFill>
                <a:latin typeface="Calibri"/>
              </a:rPr>
              <a:t>Matcher over-weights genre tags and ignores DJ bios. AELXIS VOX gets pushed to industrial venues despite a bio describing cinematic festival sets.</a:t>
            </a:r>
          </a:p>
        </p:txBody>
      </p:sp>
      <p:sp>
        <p:nvSpPr>
          <p:cNvPr id="21" name="Rectangle 20"/>
          <p:cNvSpPr/>
          <p:nvPr/>
        </p:nvSpPr>
        <p:spPr>
          <a:xfrm>
            <a:off x="640080" y="3611880"/>
            <a:ext cx="5362956" cy="12801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611880"/>
            <a:ext cx="457200" cy="54864"/>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76472"/>
            <a:ext cx="4814316" cy="292608"/>
          </a:xfrm>
          <a:prstGeom prst="rect">
            <a:avLst/>
          </a:prstGeom>
          <a:noFill/>
        </p:spPr>
        <p:txBody>
          <a:bodyPr wrap="square" lIns="0" rIns="0" tIns="0" bIns="0" anchor="t">
            <a:spAutoFit/>
          </a:bodyPr>
          <a:lstStyle/>
          <a:p>
            <a:pPr algn="l"/>
            <a:r>
              <a:rPr sz="1200" b="1" i="0">
                <a:solidFill>
                  <a:srgbClr val="F2CA50"/>
                </a:solidFill>
                <a:latin typeface="Calibri"/>
              </a:rPr>
              <a:t>§9.3  DJ-MATCH</a:t>
            </a:r>
          </a:p>
        </p:txBody>
      </p:sp>
      <p:sp>
        <p:nvSpPr>
          <p:cNvPr id="24" name="TextBox 23"/>
          <p:cNvSpPr txBox="1"/>
          <p:nvPr/>
        </p:nvSpPr>
        <p:spPr>
          <a:xfrm>
            <a:off x="914400" y="4069080"/>
            <a:ext cx="4814316" cy="292608"/>
          </a:xfrm>
          <a:prstGeom prst="rect">
            <a:avLst/>
          </a:prstGeom>
          <a:noFill/>
        </p:spPr>
        <p:txBody>
          <a:bodyPr wrap="square" lIns="0" rIns="0" tIns="0" bIns="0" anchor="t">
            <a:spAutoFit/>
          </a:bodyPr>
          <a:lstStyle/>
          <a:p>
            <a:pPr algn="l"/>
            <a:r>
              <a:rPr sz="1200" b="1" i="0">
                <a:solidFill>
                  <a:srgbClr val="F59E0B"/>
                </a:solidFill>
                <a:latin typeface="Calibri"/>
              </a:rPr>
              <a:t>Live · numbers above</a:t>
            </a:r>
          </a:p>
        </p:txBody>
      </p:sp>
      <p:sp>
        <p:nvSpPr>
          <p:cNvPr id="25" name="TextBox 24"/>
          <p:cNvSpPr txBox="1"/>
          <p:nvPr/>
        </p:nvSpPr>
        <p:spPr>
          <a:xfrm>
            <a:off x="914400" y="4389120"/>
            <a:ext cx="4814316" cy="365760"/>
          </a:xfrm>
          <a:prstGeom prst="rect">
            <a:avLst/>
          </a:prstGeom>
          <a:noFill/>
        </p:spPr>
        <p:txBody>
          <a:bodyPr wrap="square" lIns="0" rIns="0" tIns="0" bIns="0" anchor="t">
            <a:spAutoFit/>
          </a:bodyPr>
          <a:lstStyle/>
          <a:p>
            <a:pPr algn="l">
              <a:lnSpc>
                <a:spcPct val="130000"/>
              </a:lnSpc>
            </a:pPr>
            <a:r>
              <a:rPr sz="1100" b="0" i="0">
                <a:solidFill>
                  <a:srgbClr val="D0C5AF"/>
                </a:solidFill>
                <a:latin typeface="Calibri"/>
              </a:rPr>
              <a:t>21 blind-rated pairs. Both targets missed; failure mode caught. Iteration planned.</a:t>
            </a:r>
          </a:p>
        </p:txBody>
      </p:sp>
      <p:sp>
        <p:nvSpPr>
          <p:cNvPr id="26" name="Rectangle 25"/>
          <p:cNvSpPr/>
          <p:nvPr/>
        </p:nvSpPr>
        <p:spPr>
          <a:xfrm>
            <a:off x="6185916" y="3611880"/>
            <a:ext cx="5362956" cy="12801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5916" y="3611880"/>
            <a:ext cx="457200" cy="54864"/>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0236" y="3776472"/>
            <a:ext cx="4814316" cy="292608"/>
          </a:xfrm>
          <a:prstGeom prst="rect">
            <a:avLst/>
          </a:prstGeom>
          <a:noFill/>
        </p:spPr>
        <p:txBody>
          <a:bodyPr wrap="square" lIns="0" rIns="0" tIns="0" bIns="0" anchor="t">
            <a:spAutoFit/>
          </a:bodyPr>
          <a:lstStyle/>
          <a:p>
            <a:pPr algn="l"/>
            <a:r>
              <a:rPr sz="1200" b="1" i="0">
                <a:solidFill>
                  <a:srgbClr val="F2CA50"/>
                </a:solidFill>
                <a:latin typeface="Calibri"/>
              </a:rPr>
              <a:t>§9.4  AUDIO-DRIVEN MATCH</a:t>
            </a:r>
          </a:p>
        </p:txBody>
      </p:sp>
      <p:sp>
        <p:nvSpPr>
          <p:cNvPr id="29" name="TextBox 28"/>
          <p:cNvSpPr txBox="1"/>
          <p:nvPr/>
        </p:nvSpPr>
        <p:spPr>
          <a:xfrm>
            <a:off x="6460236" y="4069080"/>
            <a:ext cx="4814316" cy="292608"/>
          </a:xfrm>
          <a:prstGeom prst="rect">
            <a:avLst/>
          </a:prstGeom>
          <a:noFill/>
        </p:spPr>
        <p:txBody>
          <a:bodyPr wrap="square" lIns="0" rIns="0" tIns="0" bIns="0" anchor="t">
            <a:spAutoFit/>
          </a:bodyPr>
          <a:lstStyle/>
          <a:p>
            <a:pPr algn="l"/>
            <a:r>
              <a:rPr sz="1200" b="1" i="0">
                <a:solidFill>
                  <a:srgbClr val="8A8377"/>
                </a:solidFill>
                <a:latin typeface="Calibri"/>
              </a:rPr>
              <a:t>Harness ready · samples pending</a:t>
            </a:r>
          </a:p>
        </p:txBody>
      </p:sp>
      <p:sp>
        <p:nvSpPr>
          <p:cNvPr id="30" name="TextBox 29"/>
          <p:cNvSpPr txBox="1"/>
          <p:nvPr/>
        </p:nvSpPr>
        <p:spPr>
          <a:xfrm>
            <a:off x="6460236" y="4389120"/>
            <a:ext cx="4814316" cy="365760"/>
          </a:xfrm>
          <a:prstGeom prst="rect">
            <a:avLst/>
          </a:prstGeom>
          <a:noFill/>
        </p:spPr>
        <p:txBody>
          <a:bodyPr wrap="square" lIns="0" rIns="0" tIns="0" bIns="0" anchor="t">
            <a:spAutoFit/>
          </a:bodyPr>
          <a:lstStyle/>
          <a:p>
            <a:pPr algn="l">
              <a:lnSpc>
                <a:spcPct val="130000"/>
              </a:lnSpc>
            </a:pPr>
            <a:r>
              <a:rPr sz="1100" b="0" i="0">
                <a:solidFill>
                  <a:srgbClr val="D0C5AF"/>
                </a:solidFill>
                <a:latin typeface="Calibri"/>
              </a:rPr>
              <a:t>Paired typed-style vs typed+audio protocol on 7 venues. Sample collection in progress.</a:t>
            </a:r>
          </a:p>
        </p:txBody>
      </p:sp>
      <p:sp>
        <p:nvSpPr>
          <p:cNvPr id="31" name="Rectangle 30"/>
          <p:cNvSpPr/>
          <p:nvPr/>
        </p:nvSpPr>
        <p:spPr>
          <a:xfrm>
            <a:off x="640080" y="5074920"/>
            <a:ext cx="5362956" cy="12801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074920"/>
            <a:ext cx="457200" cy="54864"/>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239512"/>
            <a:ext cx="4814316" cy="292608"/>
          </a:xfrm>
          <a:prstGeom prst="rect">
            <a:avLst/>
          </a:prstGeom>
          <a:noFill/>
        </p:spPr>
        <p:txBody>
          <a:bodyPr wrap="square" lIns="0" rIns="0" tIns="0" bIns="0" anchor="t">
            <a:spAutoFit/>
          </a:bodyPr>
          <a:lstStyle/>
          <a:p>
            <a:pPr algn="l"/>
            <a:r>
              <a:rPr sz="1200" b="1" i="0">
                <a:solidFill>
                  <a:srgbClr val="F2CA50"/>
                </a:solidFill>
                <a:latin typeface="Calibri"/>
              </a:rPr>
              <a:t>§9.5  PROMPT-STRUCTURE LINTER</a:t>
            </a:r>
          </a:p>
        </p:txBody>
      </p:sp>
      <p:sp>
        <p:nvSpPr>
          <p:cNvPr id="34" name="TextBox 33"/>
          <p:cNvSpPr txBox="1"/>
          <p:nvPr/>
        </p:nvSpPr>
        <p:spPr>
          <a:xfrm>
            <a:off x="914400" y="5532120"/>
            <a:ext cx="4814316" cy="292608"/>
          </a:xfrm>
          <a:prstGeom prst="rect">
            <a:avLst/>
          </a:prstGeom>
          <a:noFill/>
        </p:spPr>
        <p:txBody>
          <a:bodyPr wrap="square" lIns="0" rIns="0" tIns="0" bIns="0" anchor="t">
            <a:spAutoFit/>
          </a:bodyPr>
          <a:lstStyle/>
          <a:p>
            <a:pPr algn="l"/>
            <a:r>
              <a:rPr sz="1200" b="1" i="0">
                <a:solidFill>
                  <a:srgbClr val="16A34A"/>
                </a:solidFill>
                <a:latin typeface="Calibri"/>
              </a:rPr>
              <a:t>3 / 3 venues PASS · 15 / 15 checks each</a:t>
            </a:r>
          </a:p>
        </p:txBody>
      </p:sp>
      <p:sp>
        <p:nvSpPr>
          <p:cNvPr id="35" name="TextBox 34"/>
          <p:cNvSpPr txBox="1"/>
          <p:nvPr/>
        </p:nvSpPr>
        <p:spPr>
          <a:xfrm>
            <a:off x="914400" y="5852160"/>
            <a:ext cx="4814316" cy="365760"/>
          </a:xfrm>
          <a:prstGeom prst="rect">
            <a:avLst/>
          </a:prstGeom>
          <a:noFill/>
        </p:spPr>
        <p:txBody>
          <a:bodyPr wrap="square" lIns="0" rIns="0" tIns="0" bIns="0" anchor="t">
            <a:spAutoFit/>
          </a:bodyPr>
          <a:lstStyle/>
          <a:p>
            <a:pPr algn="l">
              <a:lnSpc>
                <a:spcPct val="130000"/>
              </a:lnSpc>
            </a:pPr>
            <a:r>
              <a:rPr sz="1100" b="0" i="0">
                <a:solidFill>
                  <a:srgbClr val="D0C5AF"/>
                </a:solidFill>
                <a:latin typeface="Calibri"/>
              </a:rPr>
              <a:t>Deterministic linter for Seedance prompt structure. $0 to run, fits CI.</a:t>
            </a:r>
          </a:p>
        </p:txBody>
      </p:sp>
      <p:sp>
        <p:nvSpPr>
          <p:cNvPr id="36" name="Rectangle 35"/>
          <p:cNvSpPr/>
          <p:nvPr/>
        </p:nvSpPr>
        <p:spPr>
          <a:xfrm>
            <a:off x="6185916" y="5074920"/>
            <a:ext cx="5362956" cy="1280160"/>
          </a:xfrm>
          <a:prstGeom prst="rect">
            <a:avLst/>
          </a:prstGeom>
          <a:solidFill>
            <a:srgbClr val="2423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85916" y="5074920"/>
            <a:ext cx="457200" cy="54864"/>
          </a:xfrm>
          <a:prstGeom prst="rect">
            <a:avLst/>
          </a:prstGeom>
          <a:solidFill>
            <a:srgbClr val="F2C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0236" y="5239512"/>
            <a:ext cx="4814316" cy="292608"/>
          </a:xfrm>
          <a:prstGeom prst="rect">
            <a:avLst/>
          </a:prstGeom>
          <a:noFill/>
        </p:spPr>
        <p:txBody>
          <a:bodyPr wrap="square" lIns="0" rIns="0" tIns="0" bIns="0" anchor="t">
            <a:spAutoFit/>
          </a:bodyPr>
          <a:lstStyle/>
          <a:p>
            <a:pPr algn="l"/>
            <a:r>
              <a:rPr sz="1200" b="1" i="0">
                <a:solidFill>
                  <a:srgbClr val="F2CA50"/>
                </a:solidFill>
                <a:latin typeface="Calibri"/>
              </a:rPr>
              <a:t>§9.6  VIDEO OUTPUT RUBRIC</a:t>
            </a:r>
          </a:p>
        </p:txBody>
      </p:sp>
      <p:sp>
        <p:nvSpPr>
          <p:cNvPr id="39" name="TextBox 38"/>
          <p:cNvSpPr txBox="1"/>
          <p:nvPr/>
        </p:nvSpPr>
        <p:spPr>
          <a:xfrm>
            <a:off x="6460236" y="5532120"/>
            <a:ext cx="4814316" cy="292608"/>
          </a:xfrm>
          <a:prstGeom prst="rect">
            <a:avLst/>
          </a:prstGeom>
          <a:noFill/>
        </p:spPr>
        <p:txBody>
          <a:bodyPr wrap="square" lIns="0" rIns="0" tIns="0" bIns="0" anchor="t">
            <a:spAutoFit/>
          </a:bodyPr>
          <a:lstStyle/>
          <a:p>
            <a:pPr algn="l"/>
            <a:r>
              <a:rPr sz="1200" b="1" i="0">
                <a:solidFill>
                  <a:srgbClr val="F59E0B"/>
                </a:solidFill>
                <a:latin typeface="Calibri"/>
              </a:rPr>
              <a:t>1 / 3 generated · ratings pending</a:t>
            </a:r>
          </a:p>
        </p:txBody>
      </p:sp>
      <p:sp>
        <p:nvSpPr>
          <p:cNvPr id="40" name="TextBox 39"/>
          <p:cNvSpPr txBox="1"/>
          <p:nvPr/>
        </p:nvSpPr>
        <p:spPr>
          <a:xfrm>
            <a:off x="6460236" y="5852160"/>
            <a:ext cx="4814316" cy="365760"/>
          </a:xfrm>
          <a:prstGeom prst="rect">
            <a:avLst/>
          </a:prstGeom>
          <a:noFill/>
        </p:spPr>
        <p:txBody>
          <a:bodyPr wrap="square" lIns="0" rIns="0" tIns="0" bIns="0" anchor="t">
            <a:spAutoFit/>
          </a:bodyPr>
          <a:lstStyle/>
          <a:p>
            <a:pPr algn="l">
              <a:lnSpc>
                <a:spcPct val="130000"/>
              </a:lnSpc>
            </a:pPr>
            <a:r>
              <a:rPr sz="1100" b="0" i="0">
                <a:solidFill>
                  <a:srgbClr val="D0C5AF"/>
                </a:solidFill>
                <a:latin typeface="Calibri"/>
              </a:rPr>
              <a:t>5-dim rubric (identity, fidelity, action, camera, behavior) plus constraints check. ~$1.51 / venue.</a:t>
            </a:r>
          </a:p>
        </p:txBody>
      </p:sp>
      <p:sp>
        <p:nvSpPr>
          <p:cNvPr id="41" name="TextBox 40"/>
          <p:cNvSpPr txBox="1"/>
          <p:nvPr/>
        </p:nvSpPr>
        <p:spPr>
          <a:xfrm>
            <a:off x="640080" y="6446520"/>
            <a:ext cx="10908792" cy="320040"/>
          </a:xfrm>
          <a:prstGeom prst="rect">
            <a:avLst/>
          </a:prstGeom>
          <a:noFill/>
        </p:spPr>
        <p:txBody>
          <a:bodyPr wrap="square" lIns="0" rIns="0" tIns="0" bIns="0" anchor="t">
            <a:spAutoFit/>
          </a:bodyPr>
          <a:lstStyle/>
          <a:p>
            <a:pPr algn="ctr"/>
            <a:r>
              <a:rPr sz="1300" b="1" i="1">
                <a:solidFill>
                  <a:srgbClr val="F2CA50"/>
                </a:solidFill>
                <a:latin typeface="Georgia"/>
              </a:rPr>
              <a:t>The eval did its job: it caught a real failure mode before any user saw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